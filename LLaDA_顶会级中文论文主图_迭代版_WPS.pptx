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450ed196a942ef" /><Relationship Type="http://schemas.openxmlformats.org/officeDocument/2006/relationships/extended-properties" Target="/docProps/app.xml" Id="Rc22c9057b71d4b34" /><Relationship Type="http://schemas.openxmlformats.org/officeDocument/2006/relationships/officeDocument" Target="/ppt/presentation.xml" Id="Rb6bc6a299c1c48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88f0aa45a04f0d"/>
  </p:sldMasterIdLst>
  <p:notesMasterIdLst>
    <p:notesMasterId xmlns:r="http://schemas.openxmlformats.org/officeDocument/2006/relationships" r:id="R8e5b7515591b42e5"/>
  </p:notesMasterIdLst>
  <p:sldIdLst>
    <p:sldId xmlns:r="http://schemas.openxmlformats.org/officeDocument/2006/relationships" id="256" r:id="R7b6612525c834c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8f0aa45a04f0d" /><Relationship Type="http://schemas.openxmlformats.org/officeDocument/2006/relationships/theme" Target="/ppt/theme/theme1.xml" Id="R8915faa43f2d4515" /><Relationship Type="http://schemas.openxmlformats.org/officeDocument/2006/relationships/notesMaster" Target="/ppt/notesMasters/notesMaster1.xml" Id="R8e5b7515591b42e5" /><Relationship Type="http://schemas.openxmlformats.org/officeDocument/2006/relationships/presProps" Target="/ppt/presProps.xml" Id="R1b649770aec24e19" /><Relationship Type="http://schemas.openxmlformats.org/officeDocument/2006/relationships/viewProps" Target="/ppt/viewProps.xml" Id="Rc418591f9bc5468a" /><Relationship Type="http://schemas.openxmlformats.org/officeDocument/2006/relationships/tableStyles" Target="/ppt/tableStyles.xml" Id="R566c286be1724f08" /><Relationship Type="http://schemas.openxmlformats.org/officeDocument/2006/relationships/slide" Target="/ppt/slides/slide1.xml" Id="R7b6612525c834c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2137b01d73045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32c903557b4251" /><Relationship Type="http://schemas.openxmlformats.org/officeDocument/2006/relationships/notesMaster" Target="/ppt/notesMasters/notesMaster1.xml" Id="R1a0774f702ae4e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aab4778974dc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b83a7d8b327425a" /><Relationship Type="http://schemas.openxmlformats.org/officeDocument/2006/relationships/slideLayout" Target="/ppt/slideLayouts/slideLayout2.xml" Id="R75859cc39baa41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859cc39baa41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3e39fbeb374e36" /><Relationship Type="http://schemas.openxmlformats.org/officeDocument/2006/relationships/notesSlide" Target="/ppt/notesSlides/notesSlide1.xml" Id="R7646fdf9528647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B0508-8A41-404D-B333-5E36D159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9827E-5C73-4BD4-958A-184F5904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9691B-0D2A-4DD9-8416-04D07F48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反向轨迹驱动的 LLaDA 预算控制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DA4D8-86C3-4F0F-9FA8-B2CE92E8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28650"/>
            <a:ext cx="6667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低预算探测先读出样本风险，再把反向去噪步数分配给真正需要晚稳定的样本。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F1D0E-B941-4092-A2DB-A3A33FC2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1950"/>
            <a:ext cx="10096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1EEF8"/>
          </a:solidFill>
          <a:ln xmlns:a="http://schemas.openxmlformats.org/drawingml/2006/main" w="9525">
            <a:solidFill>
              <a:srgbClr val="6A5B8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CE42A-DDC8-4B13-92CA-F828C2FE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1950"/>
            <a:ext cx="1009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6A5B8C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6A5B8C"/>
                </a:solidFill>
                <a:latin typeface="PingFang SC"/>
                <a:ea typeface="PingFang SC"/>
                <a:cs typeface="PingFang SC"/>
              </a:rPr>
              <a:t>模型参数不变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9B81A-0174-4A85-B689-B7EE574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1950"/>
            <a:ext cx="11239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F4F3"/>
          </a:solidFill>
          <a:ln xmlns:a="http://schemas.openxmlformats.org/drawingml/2006/main" w="9525">
            <a:solidFill>
              <a:srgbClr val="2E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3CA47-DC81-45CE-B32D-9E9F1A8D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1950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2E6F73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2E6F73"/>
                </a:solidFill>
                <a:latin typeface="PingFang SC"/>
                <a:ea typeface="PingFang SC"/>
                <a:cs typeface="PingFang SC"/>
              </a:rPr>
              <a:t>推理策略可控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7294F-C73A-43E7-9B8B-8F617BFA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0490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C047F-C042-4326-B805-585291F1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04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1D71F-612D-4EF5-A968-8594C573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144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Fig. 1  Calibrated forward-aware risk control for masked diffusion inference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36727-13E2-47C8-BECE-3D4575D1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466850"/>
            <a:ext cx="1143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8188D-CC29-45D7-9FDC-23A448E6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66850"/>
            <a:ext cx="1143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E4E7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AF340-0DFE-4534-8CA0-619FC3F0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667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355F8C"/>
          </a:solidFill>
          <a:ln xmlns:a="http://schemas.openxmlformats.org/drawingml/2006/main" w="0">
            <a:solidFill>
              <a:srgbClr val="355F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4C174-3849-43C5-BCDB-664310AD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05BAB-EE48-4800-9DCA-FB5ADEFE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62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5F8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55F8C"/>
                </a:solidFill>
                <a:latin typeface="PingFang SC"/>
                <a:ea typeface="PingFang SC"/>
                <a:cs typeface="PingFang SC"/>
              </a:rPr>
              <a:t>轨迹诊断</a:t>
            </a:r>
          </a:p>
        </p:txBody>
      </p:sp>
      <p:sp>
        <p:nvSpPr>
          <p:cNvPr id="17" name="sample">
            <a:extLst xmlns:a="http://schemas.openxmlformats.org/drawingml/2006/main">
              <a:ext uri="{FF2B5EF4-FFF2-40B4-BE49-F238E27FC236}">
                <a16:creationId xmlns:a16="http://schemas.microsoft.com/office/drawing/2014/main" id="{3DB3C108-0D8F-4E39-85FE-24C41659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1239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B8B8C-8311-48F9-A32F-0D5AB706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样本 x</a:t>
            </a:r>
          </a:p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候选标签</a:t>
            </a:r>
          </a:p>
        </p:txBody>
      </p:sp>
      <p:sp>
        <p:nvSpPr>
          <p:cNvPr id="19" name="probe">
            <a:extLst xmlns:a="http://schemas.openxmlformats.org/drawingml/2006/main">
              <a:ext uri="{FF2B5EF4-FFF2-40B4-BE49-F238E27FC236}">
                <a16:creationId xmlns:a16="http://schemas.microsoft.com/office/drawing/2014/main" id="{820664E4-C755-4348-A81E-78F73BD6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764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1906">
            <a:solidFill>
              <a:srgbClr val="355F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9E01B-76D1-48C6-BC8C-599EC051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336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355F8C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355F8C"/>
                </a:solidFill>
                <a:latin typeface="PingFang SC"/>
                <a:ea typeface="PingFang SC"/>
                <a:cs typeface="PingFang SC"/>
              </a:rPr>
              <a:t>8 步探测</a:t>
            </a:r>
          </a:p>
          <a:p xmlns:a="http://schemas.openxmlformats.org/drawingml/2006/main">
            <a:pPr algn="ctr">
              <a:defRPr sz="960" b="1">
                <a:solidFill>
                  <a:srgbClr val="355F8C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355F8C"/>
                </a:solidFill>
                <a:latin typeface="PingFang SC"/>
                <a:ea typeface="PingFang SC"/>
                <a:cs typeface="PingFang SC"/>
              </a:rPr>
              <a:t>早期轨迹</a:t>
            </a:r>
          </a:p>
        </p:txBody>
      </p:sp>
      <p:cxnSp>
        <p:nvCxnSpPr>
          <p:cNvPr id="21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847850" y="23241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55F8C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6258B-2261-4A7F-95E9-C6FF4312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0478">
            <a:solidFill>
              <a:srgbClr val="B8C3D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BAE60-DDF4-4934-A9E7-1489F851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64BE3-C964-4D0A-A375-C9E13201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0478">
            <a:solidFill>
              <a:srgbClr val="B8C3D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E7742D-99C3-43E5-A2BA-8054F785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C0BD4F-F52F-41C4-82A3-8574ECF0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10478">
            <a:solidFill>
              <a:srgbClr val="B8C3D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4384C-6001-47A4-8E23-D7B6A022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A52D25-F497-4864-97AA-20015451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10478">
            <a:solidFill>
              <a:srgbClr val="B8C3D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F47068-1C5C-4331-9A69-BE611A57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81350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4B72DD-CA88-43EC-9D75-23BEABDE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10478">
            <a:solidFill>
              <a:srgbClr val="B8C3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9A32FF-C5AD-47FE-8089-5DB85F6E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81350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E80F15-8DE0-4146-B441-AE836E18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F8C"/>
          </a:solidFill>
          <a:ln xmlns:a="http://schemas.openxmlformats.org/drawingml/2006/main" w="10478">
            <a:solidFill>
              <a:srgbClr val="355F8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5F8349-614F-4B15-9EDF-D4187A0B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81350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77C0ED-863A-4D09-BB51-91043AB0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F8C"/>
          </a:solidFill>
          <a:ln xmlns:a="http://schemas.openxmlformats.org/drawingml/2006/main" w="10478">
            <a:solidFill>
              <a:srgbClr val="355F8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6D60F6-632D-41BC-B08B-F4E09B44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B02355-E497-4173-A498-30810435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F8C"/>
          </a:solidFill>
          <a:ln xmlns:a="http://schemas.openxmlformats.org/drawingml/2006/main" w="10478">
            <a:solidFill>
              <a:srgbClr val="355F8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FB5DD9-EB21-4C34-81BB-306DE5CB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81350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</a:t>
            </a:r>
          </a:p>
        </p:txBody>
      </p:sp>
      <p:cxnSp>
        <p:nvCxnSpPr>
          <p:cNvPr id="38" name=""/>
          <p:cNvCxnSpPr>
            <a:stCxn xmlns:a="http://schemas.openxmlformats.org/drawingml/2006/main" id="22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990600" y="32670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EB8C6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24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1371600" y="32670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EB8C6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26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>
            <a:off x="1752600" y="32670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EB8C6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28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2133600" y="32670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EB8C6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30" idx="6"/>
            <a:endCxn xmlns:a="http://schemas.openxmlformats.org/drawingml/2006/main" id="32" idx="2"/>
          </p:cNvCxnSpPr>
          <p:nvPr/>
        </p:nvCxnSpPr>
        <p:spPr>
          <a:xfrm xmlns:a="http://schemas.openxmlformats.org/drawingml/2006/main">
            <a:off x="2514600" y="32670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55F8C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32" idx="6"/>
            <a:endCxn xmlns:a="http://schemas.openxmlformats.org/drawingml/2006/main" id="34" idx="2"/>
          </p:cNvCxnSpPr>
          <p:nvPr/>
        </p:nvCxnSpPr>
        <p:spPr>
          <a:xfrm xmlns:a="http://schemas.openxmlformats.org/drawingml/2006/main">
            <a:off x="2895600" y="32670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55F8C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34" idx="6"/>
            <a:endCxn xmlns:a="http://schemas.openxmlformats.org/drawingml/2006/main" id="36" idx="2"/>
          </p:cNvCxnSpPr>
          <p:nvPr/>
        </p:nvCxnSpPr>
        <p:spPr>
          <a:xfrm xmlns:a="http://schemas.openxmlformats.org/drawingml/2006/main">
            <a:off x="3276600" y="32670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55F8C"/>
            </a:solidFill>
            <a:prstDash val="solid"/>
            <a:tailEnd type="arrow" w="med" len="me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4EDDDE-A072-4534-8B2A-3B37BE30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观测 hitting time：最终标签何时稳定出现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70C903-D7D1-4505-98EE-FAB05DD6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85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10478">
            <a:solidFill>
              <a:srgbClr val="355F8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0F0D3E-DDF1-4FA6-866A-F1CD4A80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355F8C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355F8C"/>
                </a:solidFill>
                <a:latin typeface="PingFang SC"/>
                <a:ea typeface="PingFang SC"/>
                <a:cs typeface="PingFang SC"/>
              </a:rPr>
              <a:t>置信度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E39E8F-E8D6-48A0-850E-CA18BFBB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8147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posterior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F72151-54AF-4B40-BE8B-7B152CE2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43350"/>
            <a:ext cx="1085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AF2EA"/>
          </a:solidFill>
          <a:ln xmlns:a="http://schemas.openxmlformats.org/drawingml/2006/main" w="10478">
            <a:solidFill>
              <a:srgbClr val="A15C3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2C861C-2BF8-4F7D-B949-556F586B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005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A15C38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A15C38"/>
                </a:solidFill>
                <a:latin typeface="PingFang SC"/>
                <a:ea typeface="PingFang SC"/>
                <a:cs typeface="PingFang SC"/>
              </a:rPr>
              <a:t>标签分歧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10CEF9-8256-4E07-8423-627AF30F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18147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disagreement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827A22-4FFB-4CAA-BA8F-ACC7A8B9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62100"/>
            <a:ext cx="2667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E6F73"/>
          </a:solidFill>
          <a:ln xmlns:a="http://schemas.openxmlformats.org/drawingml/2006/main" w="0">
            <a:solidFill>
              <a:srgbClr val="2E6F7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CA9805-E5F6-43DC-99AB-84C0050E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716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F9D1D4-4108-4BF5-AA78-E551F38B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62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F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E6F73"/>
                </a:solidFill>
                <a:latin typeface="PingFang SC"/>
                <a:ea typeface="PingFang SC"/>
                <a:cs typeface="PingFang SC"/>
              </a:rPr>
              <a:t>风险估计</a:t>
            </a:r>
          </a:p>
        </p:txBody>
      </p:sp>
      <p:sp>
        <p:nvSpPr>
          <p:cNvPr id="55" name="risk">
            <a:extLst xmlns:a="http://schemas.openxmlformats.org/drawingml/2006/main">
              <a:ext uri="{FF2B5EF4-FFF2-40B4-BE49-F238E27FC236}">
                <a16:creationId xmlns:a16="http://schemas.microsoft.com/office/drawing/2014/main" id="{B40B785F-FD50-454E-AD72-CF51B101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2324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4F3"/>
          </a:solidFill>
          <a:ln xmlns:a="http://schemas.openxmlformats.org/drawingml/2006/main" w="13335">
            <a:solidFill>
              <a:srgbClr val="2E6F7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F9726A-A27E-453D-9B23-20041DDA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145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6F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F73"/>
                </a:solidFill>
                <a:latin typeface="PingFang SC"/>
                <a:ea typeface="PingFang SC"/>
                <a:cs typeface="PingFang SC"/>
              </a:rPr>
              <a:t>r(x) = f(trajectory)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9EB6E4-735A-4493-A5FF-77A43015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早期 posterior</a:t>
            </a:r>
          </a:p>
          <a:p xmlns:a="http://schemas.openxmlformats.org/drawingml/2006/main">
            <a:pPr algn="ctr">
              <a:def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候选标签分歧</a:t>
            </a:r>
          </a:p>
          <a:p xmlns:a="http://schemas.openxmlformats.org/drawingml/2006/main">
            <a:pPr algn="ctr">
              <a:def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任务风险先验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B607A2-AE8E-468D-944E-05F08B0A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2400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76E792-C485-49C0-A122-859E4989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38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π(x) = argmin  E[错误] + λ·C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707670-A2A8-4A05-9B24-060B1276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576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校准阈值控制：不让低预算越过 full-budget 边界</a:t>
            </a:r>
          </a:p>
        </p:txBody>
      </p:sp>
      <p:cxnSp>
        <p:nvCxnSpPr>
          <p:cNvPr id="61" name=""/>
          <p:cNvCxnSpPr>
            <a:stCxn xmlns:a="http://schemas.openxmlformats.org/drawingml/2006/main" id="19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3619500" y="2324100"/>
            <a:ext cx="971550" cy="257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2E6F73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55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5753100" y="32099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E6F73"/>
            </a:solidFill>
            <a:prstDash val="solid"/>
            <a:tailEnd type="arrow" w="med" len="me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DAB92DE-25AF-4D71-BC1A-087D3356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62100"/>
            <a:ext cx="2667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A15C3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F3244A-F52F-4D95-8179-4775F29C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716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BE1082E-1718-438F-B3DF-EDBD7D23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62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5C3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15C38"/>
                </a:solidFill>
                <a:latin typeface="PingFang SC"/>
                <a:ea typeface="PingFang SC"/>
                <a:cs typeface="PingFang SC"/>
              </a:rPr>
              <a:t>预算路由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A8CB57-0A87-4E9C-A07B-76A82435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66900"/>
            <a:ext cx="2362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355F8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550CD9C-4A2C-45D1-8A60-FD768ED6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5F8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55F8C"/>
                </a:solidFill>
                <a:latin typeface="PingFang SC"/>
                <a:ea typeface="PingFang SC"/>
                <a:cs typeface="PingFang SC"/>
              </a:rPr>
              <a:t>低预算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56D9FE-72BC-43B5-B7AC-FC8398F2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31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8 步接受</a:t>
            </a:r>
          </a:p>
          <a:p xmlns:a="http://schemas.openxmlformats.org/drawingml/2006/main">
            <a:pPr algn="l">
              <a:defRPr sz="81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低风险样本直接返回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B09CBB6-6B30-452A-844B-7415EA72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2362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DE6"/>
          </a:solidFill>
          <a:ln xmlns:a="http://schemas.openxmlformats.org/drawingml/2006/main" w="11430">
            <a:solidFill>
              <a:srgbClr val="A15C3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E61F36C-B802-43F6-91C2-35D5C6F8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5C3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15C38"/>
                </a:solidFill>
                <a:latin typeface="PingFang SC"/>
                <a:ea typeface="PingFang SC"/>
                <a:cs typeface="PingFang SC"/>
              </a:rPr>
              <a:t>升级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7F29AC9-737F-4672-A58E-818BD17E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241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8 → 32</a:t>
            </a:r>
          </a:p>
          <a:p xmlns:a="http://schemas.openxmlformats.org/drawingml/2006/main">
            <a:pPr algn="l">
              <a:defRPr sz="81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探测后仍不确定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D152353-6999-41D0-A6FD-70E10BA9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2362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7EB"/>
          </a:solidFill>
          <a:ln xmlns:a="http://schemas.openxmlformats.org/drawingml/2006/main" w="11430">
            <a:solidFill>
              <a:srgbClr val="8F344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C6ABF2-F91A-49CD-B75B-A3802DE2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0520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344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F3448"/>
                </a:solidFill>
                <a:latin typeface="PingFang SC"/>
                <a:ea typeface="PingFang SC"/>
                <a:cs typeface="PingFang SC"/>
              </a:rPr>
              <a:t>全预算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36FCB89-BDEE-4FCF-873A-F03662F9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05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32 步保守路径</a:t>
            </a:r>
          </a:p>
          <a:p xmlns:a="http://schemas.openxmlformats.org/drawingml/2006/main">
            <a:pPr algn="l">
              <a:defRPr sz="81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高风险语义绑定</a:t>
            </a:r>
          </a:p>
        </p:txBody>
      </p:sp>
      <p:cxnSp>
        <p:nvCxnSpPr>
          <p:cNvPr id="75" name=""/>
          <p:cNvCxnSpPr>
            <a:stCxn xmlns:a="http://schemas.openxmlformats.org/drawingml/2006/main" id="5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V="1">
            <a:off x="6915150" y="2143125"/>
            <a:ext cx="1333500" cy="438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55F8C"/>
            </a:solidFill>
            <a:prstDash val="solid"/>
            <a:tailEnd type="arrow" w="med" len="med"/>
          </a:ln>
        </p:spPr>
      </p:cxnSp>
      <p:cxnSp>
        <p:nvCxnSpPr>
          <p:cNvPr id="76" name=""/>
          <p:cNvCxnSpPr>
            <a:stCxn xmlns:a="http://schemas.openxmlformats.org/drawingml/2006/main" id="55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6915150" y="2581275"/>
            <a:ext cx="133350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A15C38"/>
            </a:solidFill>
            <a:prstDash val="solid"/>
            <a:tailEnd type="arrow" w="med" len="med"/>
          </a:ln>
        </p:spPr>
      </p:cxnSp>
      <p:cxnSp>
        <p:nvCxnSpPr>
          <p:cNvPr id="77" name=""/>
          <p:cNvCxnSpPr>
            <a:stCxn xmlns:a="http://schemas.openxmlformats.org/drawingml/2006/main" id="55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6915150" y="2581275"/>
            <a:ext cx="1333500" cy="1123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8F3448"/>
            </a:solidFill>
            <a:prstDash val="solid"/>
            <a:tailEnd type="arrow" w="med" len="med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24D224-5927-47ED-96A5-F2A92D7D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910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输出：在守住准确率边界的前提下降低平均调用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07F799B-5D99-4CE5-9536-90664F33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实验证据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1869623-F639-4BBD-AEE4-6D286212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482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保留主张边界：只在预算能改变反向决策的位置节省计算。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FDC7F7D-2F79-4F93-A83A-B6ECA0ED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2457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001">
            <a:solidFill>
              <a:srgbClr val="355F8C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9AC15AF-5490-4CB6-BF36-8842CEBA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2228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355F8C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355F8C"/>
                </a:solidFill>
                <a:latin typeface="PingFang SC"/>
                <a:ea typeface="PingFang SC"/>
                <a:cs typeface="PingFang SC"/>
              </a:rPr>
              <a:t>WinoGrande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7DE54C3-7316-49C8-9385-B1699EC4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0.756 = full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DFCEC3C-3909-4F2B-9EE8-FDB1B317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2228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32 → 17.56 calls；高风险走 full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33ABAAC-A4F3-4880-A931-3941EE2C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91150"/>
            <a:ext cx="2457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8F7"/>
          </a:solidFill>
          <a:ln xmlns:a="http://schemas.openxmlformats.org/drawingml/2006/main" w="10001">
            <a:solidFill>
              <a:srgbClr val="2E6F7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0F45D12-C7E0-4BAE-9F3B-6D222651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57825"/>
            <a:ext cx="2228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E6F73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2E6F73"/>
                </a:solidFill>
                <a:latin typeface="PingFang SC"/>
                <a:ea typeface="PingFang SC"/>
                <a:cs typeface="PingFang SC"/>
              </a:rPr>
              <a:t>CommonsenseQA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3F68244-06F0-4075-8934-1C807295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388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9.06 calls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88844DE-09DF-408B-A2AE-1D9E2E41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867400"/>
            <a:ext cx="2228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0.817 acc，接近 full 0.819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16A50C3-1D12-4BDB-B632-C1A31C97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391150"/>
            <a:ext cx="2457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1E9"/>
          </a:solidFill>
          <a:ln xmlns:a="http://schemas.openxmlformats.org/drawingml/2006/main" w="10001">
            <a:solidFill>
              <a:srgbClr val="A15C3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DE26A2-7C8B-45EF-8A8C-882133A4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57825"/>
            <a:ext cx="2228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A15C38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A15C38"/>
                </a:solidFill>
                <a:latin typeface="PingFang SC"/>
                <a:ea typeface="PingFang SC"/>
                <a:cs typeface="PingFang SC"/>
              </a:rPr>
              <a:t>边界负例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77654C0-E35A-4707-A417-5F245E0D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388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PubMedQA / C-Eval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D1B14B-FAF6-4C8E-AE50-B9D4768B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67400"/>
            <a:ext cx="2228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知识缺口和 label prior 不能靠预算修复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49D4079-9BD8-4E93-988C-CD378496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91150"/>
            <a:ext cx="2457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1FA"/>
          </a:solidFill>
          <a:ln xmlns:a="http://schemas.openxmlformats.org/drawingml/2006/main" w="10001">
            <a:solidFill>
              <a:srgbClr val="6A5B8C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93D05F6-7F1E-40BE-B12B-1B4C7FD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57825"/>
            <a:ext cx="2228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6A5B8C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6A5B8C"/>
                </a:solidFill>
                <a:latin typeface="PingFang SC"/>
                <a:ea typeface="PingFang SC"/>
                <a:cs typeface="PingFang SC"/>
              </a:rPr>
              <a:t>LoRA 审计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0EA05E5-9048-4F53-BBA8-95BC55E4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388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PEFT ≠ 替代方案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E06A224-2D41-4139-9CF5-14A1F5BD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867400"/>
            <a:ext cx="2228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普通微调未稳定改变 DDM 决策边界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C3CECE8-BF13-4F8F-B5A7-A391E4A4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38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  <p:txBody>
          <a:bodyPr xmlns:a="http://schemas.openxmlformats.org/drawingml/2006/main" lIns="152400" tIns="47625" rIns="152400" bIns="47625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一句话：把 masked diffusion 的反向轨迹从生成过程，改写为可观测、可校准、可控成本的决策过程。</a:t>
            </a:r>
          </a:p>
        </p:txBody>
      </p:sp>
    </p:spTree>
    <p:extLst>
      <p:ext uri="{BB962C8B-B14F-4D97-AF65-F5344CB8AC3E}">
        <p14:creationId xmlns:p14="http://schemas.microsoft.com/office/powerpoint/2010/main" val="1128730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2026-05-28T19:21:21.5580000Z</dcterms:created>
  <dcterms:modified xsi:type="dcterms:W3CDTF">2026-05-28T19:21:21.5580000Z</dcterms:modified>
</coreProperties>
</file>