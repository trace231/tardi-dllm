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0f2f8b66e64ae3" /><Relationship Type="http://schemas.openxmlformats.org/officeDocument/2006/relationships/extended-properties" Target="/docProps/app.xml" Id="Rb6afcdf32ed143bb" /><Relationship Type="http://schemas.openxmlformats.org/officeDocument/2006/relationships/officeDocument" Target="/ppt/presentation.xml" Id="R592135c10e1243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c75170d1114dcc"/>
  </p:sldMasterIdLst>
  <p:notesMasterIdLst>
    <p:notesMasterId xmlns:r="http://schemas.openxmlformats.org/officeDocument/2006/relationships" r:id="R241b0786662449b5"/>
  </p:notesMasterIdLst>
  <p:sldIdLst>
    <p:sldId xmlns:r="http://schemas.openxmlformats.org/officeDocument/2006/relationships" id="256" r:id="R639d4f9cf6bd4a4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75170d1114dcc" /><Relationship Type="http://schemas.openxmlformats.org/officeDocument/2006/relationships/theme" Target="/ppt/theme/theme1.xml" Id="R379c58ea80af4521" /><Relationship Type="http://schemas.openxmlformats.org/officeDocument/2006/relationships/notesMaster" Target="/ppt/notesMasters/notesMaster1.xml" Id="R241b0786662449b5" /><Relationship Type="http://schemas.openxmlformats.org/officeDocument/2006/relationships/presProps" Target="/ppt/presProps.xml" Id="R963ee0bf8ee4439b" /><Relationship Type="http://schemas.openxmlformats.org/officeDocument/2006/relationships/viewProps" Target="/ppt/viewProps.xml" Id="Rb01aa0cbf5c44d92" /><Relationship Type="http://schemas.openxmlformats.org/officeDocument/2006/relationships/tableStyles" Target="/ppt/tableStyles.xml" Id="R34cde7b275b7414a" /><Relationship Type="http://schemas.openxmlformats.org/officeDocument/2006/relationships/slide" Target="/ppt/slides/slide1.xml" Id="R639d4f9cf6bd4a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c75f1a106f54d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a88b3b5d834582" /><Relationship Type="http://schemas.openxmlformats.org/officeDocument/2006/relationships/notesMaster" Target="/ppt/notesMasters/notesMaster1.xml" Id="R9fac36450df94d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49f9eb301b473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0ef4bdf59974ab9" /><Relationship Type="http://schemas.openxmlformats.org/officeDocument/2006/relationships/slideLayout" Target="/ppt/slideLayouts/slideLayout2.xml" Id="Rf1d600b5a2764f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d600b5a2764f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1d52565a3a441c" /><Relationship Type="http://schemas.openxmlformats.org/officeDocument/2006/relationships/notesSlide" Target="/ppt/notesSlides/notesSlide1.xml" Id="R7a5309470286453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67A52C-BD48-4F4D-87E3-1645A3FC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EF93C-64EE-406D-989E-B2B29241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E6D94-F08C-4A2B-BE91-F79F7E39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LLaDA 反向轨迹 → 校准风险控制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56973-01DC-44DE-80B2-02541E04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28650"/>
            <a:ext cx="838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用 8-step probe 读取 masked diffusion 的早期 posterior 与分歧信号，再按样本风险分配 cheap / fallback / full 预算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0EDC9-14E5-4BC2-8B3D-2BAC0779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"/>
            <a:ext cx="10668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0478">
            <a:solidFill>
              <a:srgbClr val="6D28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3D948-0B26-4B18-9D9E-6FEB9A29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D28D9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D28D9"/>
                </a:solidFill>
                <a:latin typeface="PingFang SC"/>
                <a:ea typeface="PingFang SC"/>
                <a:cs typeface="PingFang SC"/>
              </a:rPr>
              <a:t>模型架构不变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B7D9A-596D-43D1-9932-F7DB1D8B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2425"/>
            <a:ext cx="1143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0478">
            <a:solidFill>
              <a:srgbClr val="0E749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535E9-09B9-40D6-A8EE-A1FD458F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24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推理环路可控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23995-F3EA-4AAB-97E3-4C1536AE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94BCD-4244-4E70-97BE-814A5C1A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04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76A4D-393D-42DC-904C-003BF6C9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Fig. 1  Calibrated Forward-aware Risk 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3D966-110E-4655-9B02-CD9DCCB0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1  轨迹可观测</a:t>
            </a:r>
          </a:p>
        </p:txBody>
      </p:sp>
      <p:sp>
        <p:nvSpPr>
          <p:cNvPr id="13" name="input">
            <a:extLst xmlns:a="http://schemas.openxmlformats.org/drawingml/2006/main">
              <a:ext uri="{FF2B5EF4-FFF2-40B4-BE49-F238E27FC236}">
                <a16:creationId xmlns:a16="http://schemas.microsoft.com/office/drawing/2014/main" id="{B66100FF-6E1C-4DE6-B9B6-F24108F9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1104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430">
            <a:solidFill>
              <a:srgbClr val="D7DE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C5C57-E9FE-4EFC-8767-5847D65B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914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样本 x</a:t>
            </a:r>
          </a:p>
          <a:p xmlns:a="http://schemas.openxmlformats.org/drawingml/2006/main">
            <a:pPr algn="ctr">
              <a:defRPr sz="975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候选标签</a:t>
            </a:r>
          </a:p>
        </p:txBody>
      </p:sp>
      <p:sp>
        <p:nvSpPr>
          <p:cNvPr id="15" name="probe">
            <a:extLst xmlns:a="http://schemas.openxmlformats.org/drawingml/2006/main">
              <a:ext uri="{FF2B5EF4-FFF2-40B4-BE49-F238E27FC236}">
                <a16:creationId xmlns:a16="http://schemas.microsoft.com/office/drawing/2014/main" id="{A8A2220D-B88F-4C3D-88B0-C64A53D4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57400"/>
            <a:ext cx="133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EBDDE1-7F35-42AF-A5AA-ED249E91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14550"/>
            <a:ext cx="11430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8-step probe</a:t>
            </a:r>
          </a:p>
          <a:p xmlns:a="http://schemas.openxmlformats.org/drawingml/2006/main">
            <a:pPr algn="ctr">
              <a:defRPr sz="975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廉价反向轨迹</a:t>
            </a:r>
          </a:p>
        </p:txBody>
      </p:sp>
      <p:cxnSp>
        <p:nvCxnSpPr>
          <p:cNvPr id="17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733550" y="23050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0617E0-3CD5-44A3-98D0-0595F316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1430">
            <a:solidFill>
              <a:srgbClr val="94A3B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4D421-7D13-42F4-9236-8C94E3F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0926B-E280-4C2D-A961-09282D8F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1430">
            <a:solidFill>
              <a:srgbClr val="94A3B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2B007-F430-4EFB-88F1-43181EB8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95C5B-BA3D-4DF6-8589-73D1E386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11430">
            <a:solidFill>
              <a:srgbClr val="94A3B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037B5-E89C-4604-86AB-4741D1CA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8C1F1B-0AD1-4541-ADD1-80444382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11430">
            <a:solidFill>
              <a:srgbClr val="94A3B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F5406D-AA96-4CF5-8F69-F8A5B00B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9EED6-5DFC-4E3D-8D53-05BF9012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11430">
            <a:solidFill>
              <a:srgbClr val="94A3B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27A56A-AEB3-4746-A4C0-BAB09159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DA29CD-D15A-40D7-B617-BFF5AD4F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BCBA3D-5A43-4860-84C6-39B1CB41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B2B68D-5426-43BD-A292-2749D9CC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A5F247-B3C4-4A26-A525-78BFB06A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45A879-3A14-4555-B867-DB02C931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1430">
            <a:solidFill>
              <a:srgbClr val="1D4ED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B39578-C6B9-4659-A958-66EF3D2A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171825"/>
            <a:ext cx="228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y</a:t>
            </a:r>
          </a:p>
        </p:txBody>
      </p:sp>
      <p:cxnSp>
        <p:nvCxnSpPr>
          <p:cNvPr id="34" name=""/>
          <p:cNvCxnSpPr>
            <a:stCxn xmlns:a="http://schemas.openxmlformats.org/drawingml/2006/main" id="18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933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20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1314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22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1695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24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2076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26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>
            <a:off x="2457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28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2838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30" idx="6"/>
            <a:endCxn xmlns:a="http://schemas.openxmlformats.org/drawingml/2006/main" id="32" idx="2"/>
          </p:cNvCxnSpPr>
          <p:nvPr/>
        </p:nvCxnSpPr>
        <p:spPr>
          <a:xfrm xmlns:a="http://schemas.openxmlformats.org/drawingml/2006/main">
            <a:off x="3219450" y="32575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D4ED8"/>
            </a:solidFill>
            <a:prstDash val="soli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9DBFC3-D364-4EF8-A47F-DEB849C6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3162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关键量不是局部 token confidence，而是最终标签的 hitting time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29D310-5602-4132-B0B1-3D636A4C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B45309"/>
                </a:solidFill>
                <a:latin typeface="PingFang SC"/>
                <a:ea typeface="PingFang SC"/>
                <a:cs typeface="PingFang SC"/>
              </a:rPr>
              <a:t>2  风险面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A0A11A-601E-4ECE-88B5-A338453B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1981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10478">
            <a:solidFill>
              <a:srgbClr val="FCD34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D76E0B-7BA3-457D-A9DC-CF2670D3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1295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4FEEED-42DE-413F-B789-FB4A7694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90750"/>
            <a:ext cx="19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1B1231-8F05-448F-B054-E4825907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81350"/>
            <a:ext cx="1257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B45309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B45309"/>
                </a:solidFill>
                <a:latin typeface="PingFang SC"/>
                <a:ea typeface="PingFang SC"/>
                <a:cs typeface="PingFang SC"/>
              </a:rPr>
              <a:t>posterior confidence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7AB810-864D-402C-9090-22DADF09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66950"/>
            <a:ext cx="323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B45309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B45309"/>
                </a:solidFill>
                <a:latin typeface="PingFang SC"/>
                <a:ea typeface="PingFang SC"/>
                <a:cs typeface="PingFang SC"/>
              </a:rPr>
              <a:t>label</a:t>
            </a:r>
          </a:p>
          <a:p xmlns:a="http://schemas.openxmlformats.org/drawingml/2006/main">
            <a:pPr algn="ctr">
              <a:defRPr sz="690" b="0">
                <a:solidFill>
                  <a:srgbClr val="B45309"/>
                </a:solidFill>
                <a:latin typeface="PingFang SC"/>
                <a:ea typeface="PingFang SC"/>
                <a:cs typeface="PingFang SC"/>
              </a:defRPr>
            </a:pPr>
            <a:r>
              <a:rPr sz="690" b="0">
                <a:solidFill>
                  <a:srgbClr val="B45309"/>
                </a:solidFill>
                <a:latin typeface="PingFang SC"/>
                <a:ea typeface="PingFang SC"/>
                <a:cs typeface="PingFang SC"/>
              </a:rPr>
              <a:t>分歧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7DE4ED-D486-42E8-B585-072E3215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7BB914-9F45-4265-B499-D206AD0E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3F517A-530B-4FE9-A525-9BBEA5C2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09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BE123C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8C3683-059C-4FAB-B29B-51577756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7655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15803D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5803D"/>
                </a:solidFill>
                <a:latin typeface="PingFang SC"/>
                <a:ea typeface="PingFang SC"/>
                <a:cs typeface="PingFang SC"/>
              </a:rPr>
              <a:t>低风险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EA5FBDE-7525-46D7-AB38-052A97F1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670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45309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B45309"/>
                </a:solidFill>
                <a:latin typeface="PingFang SC"/>
                <a:ea typeface="PingFang SC"/>
                <a:cs typeface="PingFang SC"/>
              </a:rPr>
              <a:t>升级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465BB8-0E9A-4598-9E2C-06220C60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62200"/>
            <a:ext cx="400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BE123C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BE123C"/>
                </a:solidFill>
                <a:latin typeface="PingFang SC"/>
                <a:ea typeface="PingFang SC"/>
                <a:cs typeface="PingFang SC"/>
              </a:rPr>
              <a:t>full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13E623-5711-4218-8BEE-E71B3917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62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3  校准控制器</a:t>
            </a:r>
          </a:p>
        </p:txBody>
      </p:sp>
      <p:sp>
        <p:nvSpPr>
          <p:cNvPr id="55" name="controller">
            <a:extLst xmlns:a="http://schemas.openxmlformats.org/drawingml/2006/main">
              <a:ext uri="{FF2B5EF4-FFF2-40B4-BE49-F238E27FC236}">
                <a16:creationId xmlns:a16="http://schemas.microsoft.com/office/drawing/2014/main" id="{A8A8D293-3AD8-43FE-BE43-E2627E05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19621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17145">
            <a:solidFill>
              <a:srgbClr val="0E749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6581A0-1A89-492C-8598-EEF99D17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19325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π(probe) → budget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BE3AFBD-5CE4-4452-93BD-8DC4F373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05075"/>
            <a:ext cx="1600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min  E[错误] + λ C</a:t>
            </a:r>
          </a:p>
          <a:p xmlns:a="http://schemas.openxmlformats.org/drawingml/2006/main">
            <a:pPr algn="ctr">
              <a:defRPr sz="885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threshold + disagreement policy</a:t>
            </a:r>
          </a:p>
        </p:txBody>
      </p:sp>
      <p:cxnSp>
        <p:nvCxnSpPr>
          <p:cNvPr id="58" name=""/>
          <p:cNvCxnSpPr>
            <a:stCxn xmlns:a="http://schemas.openxmlformats.org/drawingml/2006/main" id="15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3638550" y="2305050"/>
            <a:ext cx="723900" cy="457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45309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43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 flipV="1">
            <a:off x="6343650" y="2552700"/>
            <a:ext cx="419100" cy="209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E7490"/>
            </a:solidFill>
            <a:prstDash val="solid"/>
            <a:tailEnd type="arrow" w="med" len="med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997845-AC53-46BE-914A-05C4B72F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28D9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D28D9"/>
                </a:solidFill>
                <a:latin typeface="PingFang SC"/>
                <a:ea typeface="PingFang SC"/>
                <a:cs typeface="PingFang SC"/>
              </a:rPr>
              <a:t>4  预算路由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905285-631B-4DBF-B585-017C5215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954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4288">
            <a:solidFill>
              <a:srgbClr val="15803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5C6CF3-29F7-453A-82EC-79A5A30C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7621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0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803D"/>
                </a:solidFill>
                <a:latin typeface="PingFang SC"/>
                <a:ea typeface="PingFang SC"/>
                <a:cs typeface="PingFang SC"/>
              </a:rPr>
              <a:t>cheap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21B404-CA93-49C7-8226-1483F409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62150"/>
            <a:ext cx="1276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8-step accepted</a:t>
            </a:r>
          </a:p>
          <a:p xmlns:a="http://schemas.openxmlformats.org/drawingml/2006/main">
            <a:pPr algn="ctr">
              <a:def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低风险直接返回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4E78911-0E58-4CF9-A4C1-DE5BF375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1460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4288">
            <a:solidFill>
              <a:srgbClr val="B4530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373DE4B-3916-4E80-95DE-7B4ADFF8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5812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530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45309"/>
                </a:solidFill>
                <a:latin typeface="PingFang SC"/>
                <a:ea typeface="PingFang SC"/>
                <a:cs typeface="PingFang SC"/>
              </a:rPr>
              <a:t>fallback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8733B5C-9FFE-4A77-BBB1-6C99BBC9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81300"/>
            <a:ext cx="1276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8 → 32</a:t>
            </a:r>
          </a:p>
          <a:p xmlns:a="http://schemas.openxmlformats.org/drawingml/2006/main">
            <a:pPr algn="ctr">
              <a:def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不确定样本升级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EC5F05-7DCB-4F3A-8FBF-B660399A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337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E4E6"/>
          </a:solidFill>
          <a:ln xmlns:a="http://schemas.openxmlformats.org/drawingml/2006/main" w="14288">
            <a:solidFill>
              <a:srgbClr val="BE123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B20F268-EA07-4E85-9DD7-A4755CAE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40042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E123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E123C"/>
                </a:solidFill>
                <a:latin typeface="PingFang SC"/>
                <a:ea typeface="PingFang SC"/>
                <a:cs typeface="PingFang SC"/>
              </a:rPr>
              <a:t>full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4D384D6-0BF4-4514-BC6C-000F4D11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00450"/>
            <a:ext cx="12763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32-step</a:t>
            </a:r>
          </a:p>
          <a:p xmlns:a="http://schemas.openxmlformats.org/drawingml/2006/main">
            <a:pPr algn="ctr">
              <a:def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高风险保守路径</a:t>
            </a:r>
          </a:p>
        </p:txBody>
      </p:sp>
      <p:cxnSp>
        <p:nvCxnSpPr>
          <p:cNvPr id="70" name=""/>
          <p:cNvCxnSpPr>
            <a:stCxn xmlns:a="http://schemas.openxmlformats.org/drawingml/2006/main" id="55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V="1">
            <a:off x="8724900" y="1971675"/>
            <a:ext cx="80010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803D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55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8724900" y="2552700"/>
            <a:ext cx="800100" cy="238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45309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55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8724900" y="2552700"/>
            <a:ext cx="800100" cy="1057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E123C"/>
            </a:solidFill>
            <a:prstDash val="solid"/>
            <a:tailEnd type="arrow" w="med" len="med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28B4A8F-40C6-497D-8EEA-41969A78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目标：守住 full-budget 边界，同时降低平均调用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27E8CC-C4EC-4770-BA71-94E04D83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29175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实验证据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6239ED6-01D0-4B04-9842-7EA913ED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控制器省算力，但只在 reverse budget 能改变决策边界的区域有效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022B5E3-2699-41CB-853C-E903B37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00650"/>
            <a:ext cx="253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1D4E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2AC7783-4645-4A8A-8C7B-82911011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D4ED8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D4ED8"/>
                </a:solidFill>
                <a:latin typeface="PingFang SC"/>
                <a:ea typeface="PingFang SC"/>
                <a:cs typeface="PingFang SC"/>
              </a:rPr>
              <a:t>WinoGrande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6D420D0-9DD4-4D98-B071-DD76E5D1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0.756 = full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3935D6F-97F2-41F7-885C-0E0C5423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24525"/>
            <a:ext cx="2209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calls 32 → 17.56；33.8% 走 full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3E5B35B-B358-4696-AC10-631D8B94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00650"/>
            <a:ext cx="253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11430">
            <a:solidFill>
              <a:srgbClr val="0E749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7F3237D-7AB5-408A-A68F-B7A5C8F7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7685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0E7490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0E7490"/>
                </a:solidFill>
                <a:latin typeface="PingFang SC"/>
                <a:ea typeface="PingFang SC"/>
                <a:cs typeface="PingFang SC"/>
              </a:rPr>
              <a:t>CommonsenseQA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745F8D6-A27C-4CCD-ABD2-24FC14D7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673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9.06 calls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55EB05E-D042-42C6-8DF4-FDA6FF89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724525"/>
            <a:ext cx="2209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0.817 acc，接近 full 0.819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4763120-2992-426A-94A9-BD7ABEDD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00650"/>
            <a:ext cx="253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1430">
            <a:solidFill>
              <a:srgbClr val="B45309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297B93D-97A8-4858-A469-ED5D8DB5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7685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45309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B45309"/>
                </a:solidFill>
                <a:latin typeface="PingFang SC"/>
                <a:ea typeface="PingFang SC"/>
                <a:cs typeface="PingFang SC"/>
              </a:rPr>
              <a:t>边界负例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1DF3B44-B68A-4DA7-839D-84915105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673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PubMedQA / C-Eval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E12D72C-F02E-4CBA-8AE7-2F273804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724525"/>
            <a:ext cx="2209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知识缺口 / label prior 无法靠预算完全修复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D8D1A4-682D-4824-9BED-709A4057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00650"/>
            <a:ext cx="25336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1430">
            <a:solidFill>
              <a:srgbClr val="6D28D9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422C8A8-374C-49F6-96B4-65D7CCBA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7685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D28D9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6D28D9"/>
                </a:solidFill>
                <a:latin typeface="PingFang SC"/>
                <a:ea typeface="PingFang SC"/>
                <a:cs typeface="PingFang SC"/>
              </a:rPr>
              <a:t>LoRA 审计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432E79A-A41B-4499-A1C7-9530A1AE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673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1220"/>
                </a:solidFill>
                <a:latin typeface="PingFang SC"/>
                <a:ea typeface="PingFang SC"/>
                <a:cs typeface="PingFang SC"/>
              </a:rPr>
              <a:t>AR gain &gt; DDM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D8D2350-5667-493D-8E67-8814211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24525"/>
            <a:ext cx="2209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B667A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5B667A"/>
                </a:solidFill>
                <a:latin typeface="PingFang SC"/>
                <a:ea typeface="PingFang SC"/>
                <a:cs typeface="PingFang SC"/>
              </a:rPr>
              <a:t>普通 PEFT 不能替代轨迹感知控制器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64AFDD0-778E-440F-A125-A9FF6E98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10610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</a:ln>
        </p:spPr>
        <p:txBody>
          <a:bodyPr xmlns:a="http://schemas.openxmlformats.org/drawingml/2006/main" lIns="171450" tIns="76200" rIns="171450" bIns="762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Takeaway：不是把 LLaDA 改成另一个模型，而是把 masked diffusion 反向轨迹变成可观测、可校准、可控成本的决策过程。</a:t>
            </a:r>
          </a:p>
        </p:txBody>
      </p:sp>
    </p:spTree>
    <p:extLst>
      <p:ext uri="{BB962C8B-B14F-4D97-AF65-F5344CB8AC3E}">
        <p14:creationId xmlns:p14="http://schemas.microsoft.com/office/powerpoint/2010/main" val="8191972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2026-05-28T19:14:26.9940000Z</dcterms:created>
  <dcterms:modified xsi:type="dcterms:W3CDTF">2026-05-28T19:14:26.9940000Z</dcterms:modified>
</coreProperties>
</file>